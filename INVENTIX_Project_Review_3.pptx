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874519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874519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PROJECT REVIEW 3 • DSA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141B37"/>
                </a:solidFill>
                <a:latin typeface="Aptos Display"/>
              </a:rPr>
              <a:t>Implementation &amp; Performance-Driven
Smart Warehouse Inventory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58568"/>
            <a:ext cx="86868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697184"/>
                </a:solidFill>
                <a:latin typeface="Aptos"/>
              </a:rPr>
              <a:t>From DSA definitions to integrated inventory operations using
HashMap, Merge Sort, Queue, Priority Queue and stock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03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41B37"/>
                </a:solidFill>
                <a:latin typeface="Aptos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96512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41B37"/>
                </a:solidFill>
                <a:latin typeface="Aptos"/>
              </a:rPr>
              <a:t>• 2510030149 – IVATURI NAGA MOHITH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425696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41B37"/>
                </a:solidFill>
                <a:latin typeface="Aptos"/>
              </a:rPr>
              <a:t>• 2510030115 – PEDDI INDRAKIRAN REDDY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54880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41B37"/>
                </a:solidFill>
                <a:latin typeface="Aptos"/>
              </a:rPr>
              <a:t>• 2510030200 – CH HARSHITH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084064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41B37"/>
                </a:solidFill>
                <a:latin typeface="Aptos"/>
              </a:rPr>
              <a:t>• 2510030349 – N BHUVAN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657600"/>
            <a:ext cx="2423160" cy="155448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385876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6F52D6"/>
                </a:solidFill>
                <a:latin typeface="Aptos"/>
              </a:rPr>
              <a:t>PROJECT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87952"/>
            <a:ext cx="205740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41B37"/>
                </a:solidFill>
                <a:latin typeface="Aptos"/>
              </a:rPr>
              <a:t>DSA integration
+ measurable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612648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Review 2 → Review 3: What Becomes More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Review 2 defined the DSA structure; Review 3 moves toward implementation, integration and measurable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429000" cy="54864"/>
          </a:xfrm>
          <a:prstGeom prst="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36776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Review 2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Defined HashMap for Product ID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Defined Merge Sort for inventory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00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Defined Queue for FIFO shipment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Defined Priority Queue for urgent shipments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04487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Integrated low-stock monitoring into the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3429000" cy="54864"/>
          </a:xfrm>
          <a:prstGeom prst="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1636776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Review 3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756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Complete the remaining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328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Connect all DSA modules in one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9900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Run larger inventory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472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Measure search, sorting and shipment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04487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Validate low-stock and inventory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1508760"/>
            <a:ext cx="3429000" cy="54864"/>
          </a:xfrm>
          <a:prstGeom prst="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1636776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What Becomes Measurable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0756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Actual timing results after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5328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Search comparison: linear vs HashMap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9900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Sorting comparison on inventory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447288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Shipment behavior under normal / priority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904487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Evidence-based performance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978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Core idea: move from 'algorithm selected' → 'algorithm integrated and tested'.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Implementation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The next-stage challenges come directly from the Review 2 system gap and planned next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108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1563624"/>
            <a:ext cx="457200" cy="32004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6362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8424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Fast product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31720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697184"/>
                </a:solidFill>
                <a:latin typeface="Aptos"/>
              </a:rPr>
              <a:t>Product ID lookup should remain efficient as inventory grows.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417320"/>
            <a:ext cx="3108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33672" y="1563624"/>
            <a:ext cx="45720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56362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98424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Efficient inventory ordering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331720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697184"/>
                </a:solidFill>
                <a:latin typeface="Aptos"/>
              </a:rPr>
              <a:t>Sorting should avoid repeated high-cost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417320"/>
            <a:ext cx="3108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62671" y="1563624"/>
            <a:ext cx="457200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156362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198424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Shipment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331720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697184"/>
                </a:solidFill>
                <a:latin typeface="Aptos"/>
              </a:rPr>
              <a:t>Normal shipments need FIFO handling; urgent shipments need priority handling.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108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1" y="3803904"/>
            <a:ext cx="457200" cy="320040"/>
          </a:xfrm>
          <a:prstGeom prst="roundRect">
            <a:avLst/>
          </a:prstGeom>
          <a:solidFill>
            <a:srgbClr val="E2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80390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22452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Stock-state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572000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697184"/>
                </a:solidFill>
                <a:latin typeface="Aptos"/>
              </a:rPr>
              <a:t>Current inventory state must trigger low-stock decisions.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3657600"/>
            <a:ext cx="3108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33672" y="3803904"/>
            <a:ext cx="457200" cy="320040"/>
          </a:xfrm>
          <a:prstGeom prst="round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2" y="380390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422452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Module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2" y="4572000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697184"/>
                </a:solidFill>
                <a:latin typeface="Aptos"/>
              </a:rPr>
              <a:t>DSA structures should work together rather than as isolated operations.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3657600"/>
            <a:ext cx="31089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62671" y="3803904"/>
            <a:ext cx="457200" cy="32004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1" y="380390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422452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Performance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1" y="4572000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40" b="0">
                <a:solidFill>
                  <a:srgbClr val="697184"/>
                </a:solidFill>
                <a:latin typeface="Aptos"/>
              </a:rPr>
              <a:t>Testing needs actual timings and larger datasets before conclusions.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Integrated DSA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One system flow connects user operations, management modules and DSA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5156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77440" cy="105156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63624"/>
            <a:ext cx="205740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USER / ADMIN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733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733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Add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6733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733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Update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733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733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Delete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6733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6733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Search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6733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6733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View Inventory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18519" y="16733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19" y="16733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Process Shipment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97480"/>
            <a:ext cx="105156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697480"/>
            <a:ext cx="2377440" cy="105156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843784"/>
            <a:ext cx="205740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APPLICATION / MANAGEMENT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295351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29535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Product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95351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9535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Search 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95351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9535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Inventory Module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295351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9535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Sorting Module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295351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29535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Shipment Processing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18519" y="295351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18519" y="29535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Low-Stock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977639"/>
            <a:ext cx="10515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3977639"/>
            <a:ext cx="2377440" cy="86868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123944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DSA PROCESSING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423367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423367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HashMap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0600" y="423367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423367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Merge Sort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23367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23367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Queue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9560" y="423367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423367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Priority Queue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5800" y="5074920"/>
            <a:ext cx="2377440" cy="713232"/>
          </a:xfrm>
          <a:prstGeom prst="round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221224"/>
            <a:ext cx="2057400" cy="4846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DATA LAYER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46120" y="53309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53309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Product Records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00600" y="53309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53309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Product IDs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53309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53309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Stock Information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09560" y="5330952"/>
            <a:ext cx="1417320" cy="32004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53309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Shipment / Order Information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43600" y="2468880"/>
            <a:ext cx="0" cy="228600"/>
          </a:xfrm>
          <a:prstGeom prst="line">
            <a:avLst/>
          </a:prstGeom>
          <a:ln w="2540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943600" y="3749039"/>
            <a:ext cx="0" cy="228600"/>
          </a:xfrm>
          <a:prstGeom prst="line">
            <a:avLst/>
          </a:prstGeom>
          <a:ln w="2540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943600" y="4846320"/>
            <a:ext cx="0" cy="228600"/>
          </a:xfrm>
          <a:prstGeom prst="line">
            <a:avLst/>
          </a:prstGeom>
          <a:ln w="2540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Algorithm 1 — HashMap for Fast Product ID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Use the product ID as the key so search does not require scanning the full inventory.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6537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1B37"/>
                </a:solidFill>
                <a:latin typeface="Aptos"/>
              </a:rPr>
              <a:t>Product ID → Hash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100584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P101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404872"/>
            <a:ext cx="1051560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99232" y="2221992"/>
            <a:ext cx="3520440" cy="384048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22860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Rice 5kg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43784"/>
            <a:ext cx="100584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43784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P214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3008376"/>
            <a:ext cx="1051560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99232" y="2825496"/>
            <a:ext cx="3520440" cy="384048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288950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Oil 1L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47288"/>
            <a:ext cx="100584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P309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3611880"/>
            <a:ext cx="1051560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99232" y="3429000"/>
            <a:ext cx="3520440" cy="384048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34930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Soap 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050791"/>
            <a:ext cx="100584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P417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0240" y="4215383"/>
            <a:ext cx="1051560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99232" y="4032504"/>
            <a:ext cx="3520440" cy="384048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248" y="4096511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Tea 500g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654296"/>
            <a:ext cx="100584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5429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P522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20240" y="4818888"/>
            <a:ext cx="1051560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99232" y="4636008"/>
            <a:ext cx="3520440" cy="384048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248" y="47000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Sugar 2kg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1463040"/>
            <a:ext cx="37033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6640" y="1463040"/>
            <a:ext cx="3703320" cy="54864"/>
          </a:xfrm>
          <a:prstGeom prst="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1231" y="1591056"/>
            <a:ext cx="337413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How It Helps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202996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Average lookup: O(1)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248716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Supports Product ID-based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19" y="294436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Useful for add, update, delete and search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40156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Avoids repeated linear scans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385876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Performance should be validated on larger inventories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961888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41B37"/>
                </a:solidFill>
                <a:latin typeface="Aptos"/>
              </a:rPr>
              <a:t>Example: search(P214) → locate the bucket → retrieve the product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Algorithm 2 — Merge Sort for Inventory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Inventory records are divided, recursively sorted and merged into a final ordered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7512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1B37"/>
                </a:solidFill>
                <a:latin typeface="Aptos"/>
              </a:rPr>
              <a:t>Divide → Sort → 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965960"/>
            <a:ext cx="2377440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965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[42, 17, 31, 08, 56, 24]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057400" y="2286000"/>
            <a:ext cx="1737360" cy="457200"/>
          </a:xfrm>
          <a:prstGeom prst="line">
            <a:avLst/>
          </a:prstGeom>
          <a:ln w="20320">
            <a:solidFill>
              <a:srgbClr val="6F5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94760" y="2286000"/>
            <a:ext cx="1737360" cy="457200"/>
          </a:xfrm>
          <a:prstGeom prst="line">
            <a:avLst/>
          </a:prstGeom>
          <a:ln w="20320">
            <a:solidFill>
              <a:srgbClr val="6F5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43000" y="2852928"/>
            <a:ext cx="1965960" cy="320040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5292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[42, 17, 31]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852928"/>
            <a:ext cx="1965960" cy="320040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5292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[08, 56, 24]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508760" y="3200400"/>
            <a:ext cx="640080" cy="502920"/>
          </a:xfrm>
          <a:prstGeom prst="line">
            <a:avLst/>
          </a:prstGeom>
          <a:ln w="1778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48840" y="3200400"/>
            <a:ext cx="640080" cy="502920"/>
          </a:xfrm>
          <a:prstGeom prst="line">
            <a:avLst/>
          </a:prstGeom>
          <a:ln w="1778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983480" y="3200400"/>
            <a:ext cx="594360" cy="502920"/>
          </a:xfrm>
          <a:prstGeom prst="line">
            <a:avLst/>
          </a:prstGeom>
          <a:ln w="1778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3200400"/>
            <a:ext cx="594360" cy="502920"/>
          </a:xfrm>
          <a:prstGeom prst="line">
            <a:avLst/>
          </a:prstGeom>
          <a:ln w="1778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" y="3794760"/>
            <a:ext cx="13258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[17]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794760"/>
            <a:ext cx="1417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3794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[31,42]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94760"/>
            <a:ext cx="1417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794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[08,24]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794760"/>
            <a:ext cx="13258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379476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[56]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4846320"/>
            <a:ext cx="3566160" cy="320040"/>
          </a:xfrm>
          <a:prstGeom prst="round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48463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[08, 17, 24, 31, 42, 56]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417320"/>
            <a:ext cx="356616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43800" y="1417320"/>
            <a:ext cx="3566160" cy="54864"/>
          </a:xfrm>
          <a:prstGeom prst="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1545336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Why Merge Sort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9842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Time: O(n log 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4414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Useful for large inventory collections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28986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Produces ordered product 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3558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Supports repeated sorting with predictable complexity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8130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Actual runtime should be measured during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Algorithm 3 — Queue &amp; Priority Queue for Shipment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Two shipment modes are represented explicitly: FIFO processing and urgency-based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0749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556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Normal Shipment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305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FIFO: first order in → first order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896112" cy="320040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8961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944368"/>
            <a:ext cx="155448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93391" y="2788920"/>
            <a:ext cx="896112" cy="320040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1" y="2788920"/>
            <a:ext cx="8961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62072" y="2944368"/>
            <a:ext cx="155448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72384" y="2788920"/>
            <a:ext cx="896112" cy="320040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788920"/>
            <a:ext cx="8961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41063" y="2944368"/>
            <a:ext cx="155449" cy="0"/>
          </a:xfrm>
          <a:prstGeom prst="line">
            <a:avLst/>
          </a:prstGeom>
          <a:ln w="1905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51376" y="2788920"/>
            <a:ext cx="896112" cy="320040"/>
          </a:xfrm>
          <a:prstGeom prst="roundRect">
            <a:avLst/>
          </a:prstGeom>
          <a:solidFill>
            <a:srgbClr val="E9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6" y="2788920"/>
            <a:ext cx="8961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1B37"/>
                </a:solidFill>
                <a:latin typeface="Aptos"/>
              </a:rPr>
              <a:t>S04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015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85DD6"/>
                </a:solidFill>
                <a:latin typeface="Aptos"/>
              </a:rPr>
              <a:t>DEQUEUE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3346704"/>
            <a:ext cx="914400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334670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16052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Enqueue / dequeue support sequential shipment 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02920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99B6C"/>
                </a:solidFill>
                <a:latin typeface="Aptos"/>
              </a:rPr>
              <a:t>Typical queue operations: O(1)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1508760"/>
            <a:ext cx="50749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7556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Priority Shipment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13055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Urgent orders move ahead of normal 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761488"/>
            <a:ext cx="914400" cy="320040"/>
          </a:xfrm>
          <a:prstGeom prst="roundRect">
            <a:avLst/>
          </a:prstGeom>
          <a:solidFill>
            <a:srgbClr val="E2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7614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76148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41B37"/>
                </a:solidFill>
                <a:latin typeface="Aptos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76148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7184"/>
                </a:solidFill>
                <a:latin typeface="Aptos"/>
              </a:rPr>
              <a:t>priority rank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383280"/>
            <a:ext cx="914400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3832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83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41B37"/>
                </a:solidFill>
                <a:latin typeface="Aptos"/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383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7184"/>
                </a:solidFill>
                <a:latin typeface="Aptos"/>
              </a:rPr>
              <a:t>priority rank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005072"/>
            <a:ext cx="914400" cy="32004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0050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00507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41B37"/>
                </a:solidFill>
                <a:latin typeface="Aptos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0050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7184"/>
                </a:solidFill>
                <a:latin typeface="Aptos"/>
              </a:rPr>
              <a:t>priority rank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736592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141B37"/>
                </a:solidFill>
                <a:latin typeface="Aptos"/>
              </a:rPr>
              <a:t>Used when urgency matters; complexity depends on the priority-queue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Inventory State → Low-Stock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Low-stock monitoring turns the current inventory state into an operational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66928" cy="32004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93392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Inventory updated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71800"/>
            <a:ext cx="2157984" cy="6949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Stock quantity changes after add/update/shipment.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907792"/>
            <a:ext cx="182880" cy="0"/>
          </a:xfrm>
          <a:prstGeom prst="line">
            <a:avLst/>
          </a:prstGeom>
          <a:ln w="2540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1828800"/>
            <a:ext cx="2514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93392"/>
            <a:ext cx="566928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993392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Check stock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971800"/>
            <a:ext cx="2157984" cy="6949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Compare current stock with the configured threshold.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907792"/>
            <a:ext cx="182880" cy="0"/>
          </a:xfrm>
          <a:prstGeom prst="line">
            <a:avLst/>
          </a:prstGeom>
          <a:ln w="2540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828800"/>
            <a:ext cx="2514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8231" y="1993392"/>
            <a:ext cx="566928" cy="320040"/>
          </a:xfrm>
          <a:prstGeom prst="roundRect">
            <a:avLst/>
          </a:prstGeom>
          <a:solidFill>
            <a:srgbClr val="E2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1993392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2487168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Threshold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2971800"/>
            <a:ext cx="2157984" cy="6949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Below threshold → alert. Otherwise continue.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0" y="2907792"/>
            <a:ext cx="182880" cy="0"/>
          </a:xfrm>
          <a:prstGeom prst="line">
            <a:avLst/>
          </a:prstGeom>
          <a:ln w="2540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52559" y="1828800"/>
            <a:ext cx="2514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7151" y="1993392"/>
            <a:ext cx="566928" cy="320040"/>
          </a:xfrm>
          <a:prstGeom prst="round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93392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487168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Operational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1" y="2971800"/>
            <a:ext cx="2157984" cy="6949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Review / replenish / continue shipment operations.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526280"/>
            <a:ext cx="9509760" cy="822960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745736"/>
            <a:ext cx="905256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41B37"/>
                </a:solidFill>
                <a:latin typeface="Aptos"/>
              </a:rPr>
              <a:t>Decision rule: stock &lt; threshold → generate a low-stock alert; otherwise continue normal processing.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7184"/>
                </a:solidFill>
                <a:latin typeface="Aptos"/>
              </a:rPr>
              <a:t>Review 2 already placed low-stock monitoring inside the workflow; Review 3 should validate it with test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Complete DSA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The review moves from isolated algorithms to an integrated warehouse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9659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2130552"/>
            <a:ext cx="438912" cy="32004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30552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615184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HashMap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063240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Find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70332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85DD6"/>
                </a:solidFill>
                <a:latin typeface="Aptos"/>
              </a:rPr>
              <a:t>Fast ID lookup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3127248"/>
            <a:ext cx="182880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1965960"/>
            <a:ext cx="19659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9504" y="2130552"/>
            <a:ext cx="438912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2130552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2615184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Merge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3063240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Order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70332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85DD6"/>
                </a:solidFill>
                <a:latin typeface="Aptos"/>
              </a:rPr>
              <a:t>O(n log 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3127248"/>
            <a:ext cx="182880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83480" y="1965960"/>
            <a:ext cx="19659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9784" y="2130552"/>
            <a:ext cx="438912" cy="320040"/>
          </a:xfrm>
          <a:prstGeom prst="roundRect">
            <a:avLst/>
          </a:prstGeom>
          <a:solidFill>
            <a:srgbClr val="E2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2130552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615184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Stock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063240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Evaluate quantity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70332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85DD6"/>
                </a:solidFill>
                <a:latin typeface="Aptos"/>
              </a:rPr>
              <a:t>Threshold rule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0" y="3127248"/>
            <a:ext cx="182880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23760" y="1965960"/>
            <a:ext cx="19659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0064" y="2130552"/>
            <a:ext cx="438912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2130552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2615184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063240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Normal shipment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4" y="370332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85DD6"/>
                </a:solidFill>
                <a:latin typeface="Aptos"/>
              </a:rPr>
              <a:t>FIFO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9720" y="3127248"/>
            <a:ext cx="182880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64040" y="1965960"/>
            <a:ext cx="19659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10344" y="2130552"/>
            <a:ext cx="438912" cy="320040"/>
          </a:xfrm>
          <a:prstGeom prst="round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0344" y="2130552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0344" y="2615184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41B37"/>
                </a:solidFill>
                <a:latin typeface="Aptos"/>
              </a:rPr>
              <a:t>Priority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0344" y="3063240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697184"/>
                </a:solidFill>
                <a:latin typeface="Aptos"/>
              </a:rPr>
              <a:t>Urgent shipment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0344" y="370332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99B6C"/>
                </a:solidFill>
                <a:latin typeface="Aptos"/>
              </a:rPr>
              <a:t>Priority-based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8006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41B37"/>
                </a:solidFill>
                <a:latin typeface="Aptos"/>
              </a:rPr>
              <a:t>User operation → DSA module → inventory state → shipment decision → updated inventory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0" y="5349240"/>
            <a:ext cx="71323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48840" y="552297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50" b="0">
                <a:solidFill>
                  <a:srgbClr val="697184"/>
                </a:solidFill>
                <a:latin typeface="Aptos"/>
              </a:rPr>
              <a:t>Integration goal: every operation updates or reads the same inventory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Complexity &amp; Algorithm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The Review 3 evaluation should combine theoretical complexity with measured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194560" cy="502920"/>
          </a:xfrm>
          <a:prstGeom prst="roundRect">
            <a:avLst/>
          </a:prstGeom>
          <a:solidFill>
            <a:srgbClr val="14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2423160" cy="502920"/>
          </a:xfrm>
          <a:prstGeom prst="roundRect">
            <a:avLst/>
          </a:prstGeom>
          <a:solidFill>
            <a:srgbClr val="14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48132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DSA /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463040"/>
            <a:ext cx="1920240" cy="502920"/>
          </a:xfrm>
          <a:prstGeom prst="roundRect">
            <a:avLst/>
          </a:prstGeom>
          <a:solidFill>
            <a:srgbClr val="14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48132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Typical Complexity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63040"/>
            <a:ext cx="2331720" cy="502920"/>
          </a:xfrm>
          <a:prstGeom prst="roundRect">
            <a:avLst/>
          </a:prstGeom>
          <a:solidFill>
            <a:srgbClr val="14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481328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Why It Is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463040"/>
            <a:ext cx="914400" cy="502920"/>
          </a:xfrm>
          <a:prstGeom prst="roundRect">
            <a:avLst/>
          </a:prstGeom>
          <a:solidFill>
            <a:srgbClr val="14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148132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011680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84832"/>
            <a:ext cx="21031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Product ID lookup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011680"/>
            <a:ext cx="24231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79" y="2084832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1">
                <a:solidFill>
                  <a:srgbClr val="141B37"/>
                </a:solidFill>
                <a:latin typeface="Aptos"/>
              </a:rPr>
              <a:t>HashMap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011680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084832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O(1) average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011680"/>
            <a:ext cx="2331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084832"/>
            <a:ext cx="2240279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Fast access by Product 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2011680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084832"/>
            <a:ext cx="82296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724912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98064"/>
            <a:ext cx="21031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Inventory sorting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724912"/>
            <a:ext cx="24231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2798064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1">
                <a:solidFill>
                  <a:srgbClr val="141B37"/>
                </a:solidFill>
                <a:latin typeface="Aptos"/>
              </a:rPr>
              <a:t>Merge 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2724912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798064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O(n log 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724912"/>
            <a:ext cx="2331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798064"/>
            <a:ext cx="2240279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Efficient ordering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2724912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2798064"/>
            <a:ext cx="82296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438144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511296"/>
            <a:ext cx="21031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Normal shipment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3438144"/>
            <a:ext cx="24231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79" y="3511296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1">
                <a:solidFill>
                  <a:srgbClr val="141B37"/>
                </a:solidFill>
                <a:latin typeface="Aptos"/>
              </a:rPr>
              <a:t>Queue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3438144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3511296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O(1) enqueue/dequeue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3438144"/>
            <a:ext cx="2331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3511296"/>
            <a:ext cx="2240279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FIFO processing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3438144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3511296"/>
            <a:ext cx="82296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Test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151376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224528"/>
            <a:ext cx="21031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Priority shipment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4151376"/>
            <a:ext cx="24231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79" y="4224528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1">
                <a:solidFill>
                  <a:srgbClr val="141B37"/>
                </a:solidFill>
                <a:latin typeface="Aptos"/>
              </a:rPr>
              <a:t>Priority Queue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4151376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4224528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Depends on implementation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4151376"/>
            <a:ext cx="2331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4224528"/>
            <a:ext cx="2240279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Urgent orders first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04120" y="4151376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4224528"/>
            <a:ext cx="82296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Test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864608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937760"/>
            <a:ext cx="21031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Stock monitoring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4864608"/>
            <a:ext cx="24231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79" y="4937760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Inventory state check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4864608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4937760"/>
            <a:ext cx="182880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Depends on lookup path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5240" y="4864608"/>
            <a:ext cx="2331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0" y="4937760"/>
            <a:ext cx="2240279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Low-stock alert decision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04120" y="4864608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4937760"/>
            <a:ext cx="822960" cy="49377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41B37"/>
                </a:solidFill>
                <a:latin typeface="Aptos"/>
              </a:rPr>
              <a:t>Validate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E28B2F"/>
                </a:solidFill>
                <a:latin typeface="Aptos"/>
              </a:rPr>
              <a:t>Performance claim rule: report actual timings only after running the implementation on defined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Testing, Performance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97184"/>
                </a:solidFill>
                <a:latin typeface="Aptos"/>
              </a:rPr>
              <a:t>Review 3 should turn the proposed DSA design into measurable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83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383280" cy="54864"/>
          </a:xfrm>
          <a:prstGeom prst="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Test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Small, medium and large inventories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Different product ID distributions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Sorting on increasing inventory sizes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Normal + priority shipment mixes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130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Low-stock threshold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702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Search correctness after updates/deletes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17320"/>
            <a:ext cx="3383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417320"/>
            <a:ext cx="3383280" cy="54864"/>
          </a:xfrm>
          <a:prstGeom prst="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545336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What to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842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Search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414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Sort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8986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Shipment processing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558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Rule / state 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8130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Low-stock alert correctness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702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Memory usage where measurable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1417320"/>
            <a:ext cx="33832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1417320"/>
            <a:ext cx="3383280" cy="54864"/>
          </a:xfrm>
          <a:prstGeom prst="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1" y="1545336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1B37"/>
                </a:solidFill>
                <a:latin typeface="Aptos"/>
              </a:rPr>
              <a:t>Next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59" y="19842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Integrate all DSA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24414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Complete actual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59" y="28986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Compare linear search with HashMap lookup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33558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Record actual timings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59" y="38130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Improve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59" y="42702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41B37"/>
                </a:solidFill>
                <a:latin typeface="Aptos"/>
              </a:rPr>
              <a:t>• Validate larger datasets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90702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80" b="0">
                <a:solidFill>
                  <a:srgbClr val="697184"/>
                </a:solidFill>
                <a:latin typeface="Aptos"/>
              </a:rPr>
              <a:t>No benchmark numbers are invented here; the deck leaves measurement open for actual test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1874519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874519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PROJECT REVIEW 3 • DSA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41B37"/>
                </a:solidFill>
                <a:latin typeface="Aptos Display"/>
              </a:rPr>
              <a:t>From DSA Design → Integrated Warehouse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9326880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697184"/>
                </a:solidFill>
                <a:latin typeface="Aptos"/>
              </a:rPr>
              <a:t>Review 3 focus: complete implementation, connect the modules,
and measure how the system behaves as inventory scale increases.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1965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3401568"/>
            <a:ext cx="566928" cy="320040"/>
          </a:xfrm>
          <a:prstGeom prst="roundRect">
            <a:avLst/>
          </a:prstGeom>
          <a:solidFill>
            <a:srgbClr val="38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34107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HashMap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37673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>
                <a:solidFill>
                  <a:srgbClr val="697184"/>
                </a:solidFill>
                <a:latin typeface="Aptos"/>
              </a:rPr>
              <a:t>lookup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39" y="3794760"/>
            <a:ext cx="164593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3246120"/>
            <a:ext cx="1965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3401568"/>
            <a:ext cx="566928" cy="320040"/>
          </a:xfrm>
          <a:prstGeom prst="roundRect">
            <a:avLst/>
          </a:prstGeom>
          <a:solidFill>
            <a:srgbClr val="6F5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401568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4107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Merge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37673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>
                <a:solidFill>
                  <a:srgbClr val="697184"/>
                </a:solidFill>
                <a:latin typeface="Aptos"/>
              </a:rPr>
              <a:t>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3794760"/>
            <a:ext cx="164592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0" y="3246120"/>
            <a:ext cx="1965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3401568"/>
            <a:ext cx="566928" cy="320040"/>
          </a:xfrm>
          <a:prstGeom prst="roundRect">
            <a:avLst/>
          </a:prstGeom>
          <a:solidFill>
            <a:srgbClr val="E2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401568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34107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Stock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37673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>
                <a:solidFill>
                  <a:srgbClr val="697184"/>
                </a:solidFill>
                <a:latin typeface="Aptos"/>
              </a:rPr>
              <a:t>decide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0" y="3794760"/>
            <a:ext cx="164592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60920" y="3246120"/>
            <a:ext cx="1965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0" y="3401568"/>
            <a:ext cx="566928" cy="320040"/>
          </a:xfrm>
          <a:prstGeom prst="roundRect">
            <a:avLst/>
          </a:prstGeom>
          <a:solidFill>
            <a:srgbClr val="23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3401568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4107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Queue / PQ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7673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>
                <a:solidFill>
                  <a:srgbClr val="697184"/>
                </a:solidFill>
                <a:latin typeface="Aptos"/>
              </a:rPr>
              <a:t>ship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0" y="3794760"/>
            <a:ext cx="164592" cy="0"/>
          </a:xfrm>
          <a:prstGeom prst="line">
            <a:avLst/>
          </a:prstGeom>
          <a:ln w="22860">
            <a:solidFill>
              <a:srgbClr val="23A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0" y="3246120"/>
            <a:ext cx="1965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38360" y="3401568"/>
            <a:ext cx="566928" cy="320040"/>
          </a:xfrm>
          <a:prstGeom prst="roundRect">
            <a:avLst/>
          </a:prstGeom>
          <a:solidFill>
            <a:srgbClr val="299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3401568"/>
            <a:ext cx="56692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96728" y="341071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141B37"/>
                </a:solidFill>
                <a:latin typeface="Aptos"/>
              </a:rPr>
              <a:t>Updated 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37673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>
                <a:solidFill>
                  <a:srgbClr val="697184"/>
                </a:solidFill>
                <a:latin typeface="Aptos"/>
              </a:rPr>
              <a:t>repeat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892040"/>
            <a:ext cx="5852160" cy="713232"/>
          </a:xfrm>
          <a:prstGeom prst="roundRect">
            <a:avLst/>
          </a:prstGeom>
          <a:solidFill>
            <a:srgbClr val="E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2928" y="5093208"/>
            <a:ext cx="562356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41B37"/>
                </a:solidFill>
                <a:latin typeface="Aptos"/>
              </a:rPr>
              <a:t>Final goal: one DSA-driven system, measured on real inventory workloads.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08076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50" b="1">
                <a:solidFill>
                  <a:srgbClr val="385DD6"/>
                </a:solidFill>
                <a:latin typeface="Aptos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08990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41B3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